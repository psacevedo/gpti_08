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6" r:id="rId6"/>
    <p:sldId id="261" r:id="rId7"/>
    <p:sldId id="262" r:id="rId8"/>
    <p:sldId id="263" r:id="rId9"/>
    <p:sldId id="267" r:id="rId10"/>
    <p:sldId id="264" r:id="rId11"/>
    <p:sldId id="265" r:id="rId12"/>
    <p:sldId id="268" r:id="rId13"/>
  </p:sldIdLst>
  <p:sldSz cx="9144000" cy="6858000" type="screen4x3"/>
  <p:notesSz cx="6858000" cy="9144000"/>
  <p:defaultTextStyle>
    <a:defPPr>
      <a:defRPr lang="es-V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8" autoAdjust="0"/>
  </p:normalViewPr>
  <p:slideViewPr>
    <p:cSldViewPr>
      <p:cViewPr varScale="1">
        <p:scale>
          <a:sx n="120" d="100"/>
          <a:sy n="120" d="100"/>
        </p:scale>
        <p:origin x="14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07C3547F-BFFD-BE97-D571-F8B9A3CA42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42440C57-42B7-8FB1-D935-5D4B26CE3D0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B23CB9E-E8AA-F242-B365-1EA3BFA681D9}" type="datetimeFigureOut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DFA17DA0-6640-FDB1-5FF8-ACB506801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 dirty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80FD779D-FAC2-6DF6-C43D-AADF07EB8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VE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51073125-68A3-E57F-B10A-4443F901B4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5AEC6C30-A3D8-C745-77FD-A9FFDD5B9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2191297-F9FB-DF4E-96FB-2D1F54FF6CEA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D8415C7-3F57-651E-C0B8-7462469932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CL" altLang="es-CL">
              <a:latin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24D5039-A56C-717F-5D71-EA36DA0A687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VE" altLang="es-CL" sz="1400" b="1">
                <a:solidFill>
                  <a:srgbClr val="0D0D0D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La Oficina de Proyectos de Informática</a:t>
            </a:r>
            <a:endParaRPr lang="es-VE" altLang="es-CL">
              <a:ea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E7716A-C25E-806D-3BE7-B51AFA724C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CL" altLang="es-CL"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53653B-FD08-4A62-B5DD-7463114082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s-VE" altLang="es-CL" sz="1200" b="1" i="1">
                <a:solidFill>
                  <a:srgbClr val="365F9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www.pmoinformatica.com</a:t>
            </a:r>
            <a:endParaRPr lang="es-VE" altLang="es-CL">
              <a:ea typeface="Calibri" panose="020F0502020204030204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8" name="3 Marcador de fecha">
            <a:extLst>
              <a:ext uri="{FF2B5EF4-FFF2-40B4-BE49-F238E27FC236}">
                <a16:creationId xmlns:a16="http://schemas.microsoft.com/office/drawing/2014/main" id="{901B8295-1237-CBE8-BCDE-CB6DD9678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A3102-1B6A-5141-A1EE-EF7BF74B1A46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9" name="4 Marcador de pie de página">
            <a:extLst>
              <a:ext uri="{FF2B5EF4-FFF2-40B4-BE49-F238E27FC236}">
                <a16:creationId xmlns:a16="http://schemas.microsoft.com/office/drawing/2014/main" id="{45EF6640-158D-FB79-0B45-FE3F9B67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5 Marcador de número de diapositiva">
            <a:extLst>
              <a:ext uri="{FF2B5EF4-FFF2-40B4-BE49-F238E27FC236}">
                <a16:creationId xmlns:a16="http://schemas.microsoft.com/office/drawing/2014/main" id="{9635A90E-8118-962E-38F2-EA392C71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DC3A10-F480-D948-8B37-BCC1CF38F822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1535695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48D1F20-D571-918D-F41C-0C0E25927B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CL" altLang="es-CL">
              <a:latin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0BEEAC-9610-2A75-6C28-5F5A0491766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VE" altLang="es-CL" sz="1400" b="1">
                <a:solidFill>
                  <a:srgbClr val="0D0D0D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La Oficina de Proyectos de Informática</a:t>
            </a:r>
            <a:endParaRPr lang="es-VE" altLang="es-CL">
              <a:ea typeface="Calibri" panose="020F050202020403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D0ACD7-ED35-F787-1CF1-CA3E91D2658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s-VE" altLang="es-CL" sz="1200" b="1" i="1">
                <a:solidFill>
                  <a:srgbClr val="365F9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www.pmoinformatica.com</a:t>
            </a:r>
            <a:endParaRPr lang="es-VE" altLang="es-CL">
              <a:ea typeface="Calibri" panose="020F0502020204030204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3 Marcador de fecha">
            <a:extLst>
              <a:ext uri="{FF2B5EF4-FFF2-40B4-BE49-F238E27FC236}">
                <a16:creationId xmlns:a16="http://schemas.microsoft.com/office/drawing/2014/main" id="{3E9A3C69-CF3C-1362-CAFD-DDC3A3EE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B90AD-F239-224F-9632-CDB5F0D0E0C6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8" name="4 Marcador de pie de página">
            <a:extLst>
              <a:ext uri="{FF2B5EF4-FFF2-40B4-BE49-F238E27FC236}">
                <a16:creationId xmlns:a16="http://schemas.microsoft.com/office/drawing/2014/main" id="{A869C06C-F4ED-4170-CA6F-5D04EFC1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65775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32410F54-47AE-86E8-68CC-282EB80DC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D929B-EE82-4840-B513-E587E2E31385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726C1E49-72B8-0393-DCF4-4C98030A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66A44594-7453-DB08-D3E0-0D7B6EEBA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0C56-2BF6-A849-ADF7-E6931E1B3F5B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428544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43336F1-52A6-F9D8-9715-EC7DAC51165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CL" altLang="es-CL">
              <a:latin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A4F6997-2552-B32D-321B-D542940C9B3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VE" altLang="es-CL" sz="1400" b="1">
                <a:solidFill>
                  <a:srgbClr val="0D0D0D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La Oficina de Proyectos de Informática</a:t>
            </a:r>
            <a:endParaRPr lang="es-VE" altLang="es-CL"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817DA-AD7A-A325-B3CA-1FBF7B9901E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s-VE" altLang="es-CL" sz="1200" b="1" i="1">
                <a:solidFill>
                  <a:srgbClr val="365F9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www.pmoinformatica.com</a:t>
            </a:r>
            <a:endParaRPr lang="es-VE" altLang="es-CL">
              <a:ea typeface="Calibri" panose="020F0502020204030204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8" name="4 Marcador de fecha">
            <a:extLst>
              <a:ext uri="{FF2B5EF4-FFF2-40B4-BE49-F238E27FC236}">
                <a16:creationId xmlns:a16="http://schemas.microsoft.com/office/drawing/2014/main" id="{EB03449E-6586-D328-B849-AC6D8E38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2EF35-9551-D344-AAF9-31CD6448263B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9" name="5 Marcador de pie de página">
            <a:extLst>
              <a:ext uri="{FF2B5EF4-FFF2-40B4-BE49-F238E27FC236}">
                <a16:creationId xmlns:a16="http://schemas.microsoft.com/office/drawing/2014/main" id="{1ABC0FB2-BF6E-F81D-EEC4-496C4843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6 Marcador de número de diapositiva">
            <a:extLst>
              <a:ext uri="{FF2B5EF4-FFF2-40B4-BE49-F238E27FC236}">
                <a16:creationId xmlns:a16="http://schemas.microsoft.com/office/drawing/2014/main" id="{0C8755AB-1697-3528-19C6-05E297E7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F8BEE-D4F2-B248-8C85-3758DE70590C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4197026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CB30C95-02C2-8588-F984-98858DA59B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CL" altLang="es-CL">
              <a:latin typeface="Calibri" panose="020F050202020403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BC8B205-0E21-8F9F-56AE-987E18DDA7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VE" altLang="es-CL" sz="1400" b="1">
                <a:solidFill>
                  <a:srgbClr val="0D0D0D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La Oficina de Proyectos de Informática</a:t>
            </a:r>
            <a:endParaRPr lang="es-VE" altLang="es-CL">
              <a:ea typeface="Calibri" panose="020F050202020403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33EB9D-74B4-1A39-8011-C672CF2AA5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ctr"/>
                <a:tab pos="56118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s-VE" altLang="es-CL" sz="1200" b="1" i="1">
                <a:solidFill>
                  <a:srgbClr val="365F9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www.pmoinformatica.com</a:t>
            </a:r>
            <a:endParaRPr lang="es-VE" altLang="es-CL">
              <a:ea typeface="Calibri" panose="020F0502020204030204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10" name="6 Marcador de fecha">
            <a:extLst>
              <a:ext uri="{FF2B5EF4-FFF2-40B4-BE49-F238E27FC236}">
                <a16:creationId xmlns:a16="http://schemas.microsoft.com/office/drawing/2014/main" id="{95CC02CE-67BB-CFD5-CDB3-E18086B5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410C6-8370-C641-88FE-A642D2747D51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11" name="7 Marcador de pie de página">
            <a:extLst>
              <a:ext uri="{FF2B5EF4-FFF2-40B4-BE49-F238E27FC236}">
                <a16:creationId xmlns:a16="http://schemas.microsoft.com/office/drawing/2014/main" id="{42023780-0855-D84A-5AB4-47858292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2" name="8 Marcador de número de diapositiva">
            <a:extLst>
              <a:ext uri="{FF2B5EF4-FFF2-40B4-BE49-F238E27FC236}">
                <a16:creationId xmlns:a16="http://schemas.microsoft.com/office/drawing/2014/main" id="{38EE65E2-7E75-57A5-4919-42F226D0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A363F-605E-0040-949E-9326E4E22EED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188219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61A41F1D-FC95-3D76-2016-5F803F81E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308AE-F67B-8C4D-B3A1-27CB61923686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C4A96139-3364-ECAB-6CB8-F5E9AE8B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F1F7B4C9-596C-7EAD-88CE-7843259A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D5016-BC98-CE4A-8426-F68F3F10F2AA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361877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>
            <a:extLst>
              <a:ext uri="{FF2B5EF4-FFF2-40B4-BE49-F238E27FC236}">
                <a16:creationId xmlns:a16="http://schemas.microsoft.com/office/drawing/2014/main" id="{E9C09FDD-D862-85F0-A6F0-698E9DBF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6E4D6-C495-714E-BFDD-E777CCECAA82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3" name="4 Marcador de pie de página">
            <a:extLst>
              <a:ext uri="{FF2B5EF4-FFF2-40B4-BE49-F238E27FC236}">
                <a16:creationId xmlns:a16="http://schemas.microsoft.com/office/drawing/2014/main" id="{4CB91C3C-F6F8-47F3-E3C7-7DD640D8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135D4E47-35AD-B4FA-E95F-40B81CE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EDB93-EE16-9E47-961F-08F0C9D867C6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285925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600C770A-97B1-1467-63F7-B02623CA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D332B-AA5D-134C-AB94-D6E2310F43A5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4ADB05F7-5A8C-FD64-ACA6-F30239BB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B1791F2D-3771-FA10-226F-6E2B9F64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7D0BF-9B95-CE42-9245-F0FB4395EF09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103956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VE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5863EAC8-D65B-F0CB-9660-14CF0FDC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B0E97B-DDD1-7E47-BA7A-F9F71B975822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6E7A47A2-BB7E-F9B4-890C-C593812E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9FE60869-95B3-355B-217C-91BC0A3E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13452-357D-AD47-9965-ACBE21C9173A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280343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80DBE3B2-8D56-8010-68A7-40B60654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A9ED9-7C42-D34A-9DE3-DF867D92B42A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E3860D43-A5F8-7A5B-487B-07BDF890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57E8574A-F97C-EEA8-285B-E5D8535B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9AC63-AA7E-E34B-9AE9-9215BFF086C0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131741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F1AFE47D-3794-F5BE-96EA-21D4916FB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C8CE4-F0E5-C54B-9189-B927C6B1C1B4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1C6C02BF-F618-D3C8-6494-4886B7EE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9EA01373-7015-5E50-BFF7-B2D33051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45F72-445E-244F-8386-949BA85AFBA1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  <p:extLst>
      <p:ext uri="{BB962C8B-B14F-4D97-AF65-F5344CB8AC3E}">
        <p14:creationId xmlns:p14="http://schemas.microsoft.com/office/powerpoint/2010/main" val="266721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9DF19B74-F8BB-3DF3-4A45-FEECFFB366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/>
              <a:t>Haga clic para modificar el estilo de título del patrón</a:t>
            </a:r>
            <a:endParaRPr lang="es-VE" altLang="es-CL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995A807B-A654-44E3-5238-CDBE2FA556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/>
              <a:t>Haga clic para modificar el estilo de texto del patrón</a:t>
            </a:r>
          </a:p>
          <a:p>
            <a:pPr lvl="1"/>
            <a:r>
              <a:rPr lang="es-ES" altLang="es-CL"/>
              <a:t>Segundo nivel</a:t>
            </a:r>
          </a:p>
          <a:p>
            <a:pPr lvl="2"/>
            <a:r>
              <a:rPr lang="es-ES" altLang="es-CL"/>
              <a:t>Tercer nivel</a:t>
            </a:r>
          </a:p>
          <a:p>
            <a:pPr lvl="3"/>
            <a:r>
              <a:rPr lang="es-ES" altLang="es-CL"/>
              <a:t>Cuarto nivel</a:t>
            </a:r>
          </a:p>
          <a:p>
            <a:pPr lvl="4"/>
            <a:r>
              <a:rPr lang="es-ES" altLang="es-CL"/>
              <a:t>Quinto nivel</a:t>
            </a:r>
            <a:endParaRPr lang="es-VE" altLang="es-CL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A641A69F-44BF-70DE-E76E-49910DFC7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693D1AC-9BE3-114B-AD04-3AF3ACC37376}" type="datetime1">
              <a:rPr lang="es-VE"/>
              <a:pPr>
                <a:defRPr/>
              </a:pPr>
              <a:t>29/8/26</a:t>
            </a:fld>
            <a:endParaRPr lang="es-VE" dirty="0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4437D653-AB33-B94C-C9AA-E38151D49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2286A42F-09E7-A721-D2E5-176177E77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1589BD7-69DF-4942-A172-7C7D934C382C}" type="slidenum">
              <a:rPr lang="es-VE" altLang="es-CL"/>
              <a:pPr>
                <a:defRPr/>
              </a:pPr>
              <a:t>‹Nº›</a:t>
            </a:fld>
            <a:endParaRPr lang="es-VE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24" r:id="rId3"/>
    <p:sldLayoutId id="2147483733" r:id="rId4"/>
    <p:sldLayoutId id="214748373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>
            <a:extLst>
              <a:ext uri="{FF2B5EF4-FFF2-40B4-BE49-F238E27FC236}">
                <a16:creationId xmlns:a16="http://schemas.microsoft.com/office/drawing/2014/main" id="{49F43610-2C6E-D267-B405-ED64348E11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VE" b="1" dirty="0"/>
              <a:t>Caso de Negocio</a:t>
            </a:r>
            <a:br>
              <a:rPr lang="es-VE" b="1" dirty="0"/>
            </a:br>
            <a:r>
              <a:rPr lang="es-VE" sz="2400" b="1" dirty="0">
                <a:solidFill>
                  <a:srgbClr val="00B050"/>
                </a:solidFill>
              </a:rPr>
              <a:t> </a:t>
            </a:r>
            <a:r>
              <a:rPr lang="es-VE" sz="2400" dirty="0">
                <a:latin typeface="+mn-lt"/>
                <a:ea typeface="+mn-ea"/>
                <a:cs typeface="+mn-cs"/>
              </a:rPr>
              <a:t>Electravel #8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5029E9B1-240D-10A5-8446-0420ADB26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88" y="3786188"/>
            <a:ext cx="6400800" cy="1500187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Organización: </a:t>
            </a:r>
            <a:r>
              <a:rPr lang="es-VE" sz="2800" dirty="0">
                <a:solidFill>
                  <a:schemeClr val="tx1"/>
                </a:solidFill>
              </a:rPr>
              <a:t>RutaEV Chile SpA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Fecha:</a:t>
            </a:r>
            <a:r>
              <a:rPr lang="es-VE" sz="2800" dirty="0"/>
              <a:t> </a:t>
            </a:r>
            <a:r>
              <a:rPr lang="es-VE" sz="2800" dirty="0">
                <a:solidFill>
                  <a:schemeClr val="tx1"/>
                </a:solidFill>
              </a:rPr>
              <a:t>08/09/2026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Cliente: </a:t>
            </a:r>
            <a:r>
              <a:rPr lang="es-VE" sz="2800" dirty="0">
                <a:solidFill>
                  <a:schemeClr val="tx1"/>
                </a:solidFill>
              </a:rPr>
              <a:t>Gerencia de Producto (Profesor?)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Patrocinador: </a:t>
            </a:r>
            <a:r>
              <a:rPr lang="es-VE" sz="2800" dirty="0">
                <a:solidFill>
                  <a:schemeClr val="tx1"/>
                </a:solidFill>
              </a:rPr>
              <a:t>Dirección Ejecutiva (Ayudante?)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s-VE" sz="2800" b="1" dirty="0">
              <a:solidFill>
                <a:srgbClr val="00B050"/>
              </a:solidFill>
            </a:endParaRPr>
          </a:p>
        </p:txBody>
      </p:sp>
      <p:sp>
        <p:nvSpPr>
          <p:cNvPr id="7172" name="3 Marcador de número de diapositiva">
            <a:extLst>
              <a:ext uri="{FF2B5EF4-FFF2-40B4-BE49-F238E27FC236}">
                <a16:creationId xmlns:a16="http://schemas.microsoft.com/office/drawing/2014/main" id="{11482978-25CE-AC9C-C9E6-445FDA8803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ACDDD0-8935-9942-A7DC-8F70F1267353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s-VE" altLang="es-CL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0B7F8B3D-EF0C-8B25-AE4F-4F048511D0DC}"/>
              </a:ext>
            </a:extLst>
          </p:cNvPr>
          <p:cNvSpPr txBox="1">
            <a:spLocks/>
          </p:cNvSpPr>
          <p:nvPr/>
        </p:nvSpPr>
        <p:spPr>
          <a:xfrm>
            <a:off x="600075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8195" name="7 Marcador de contenido">
            <a:extLst>
              <a:ext uri="{FF2B5EF4-FFF2-40B4-BE49-F238E27FC236}">
                <a16:creationId xmlns:a16="http://schemas.microsoft.com/office/drawing/2014/main" id="{7891DEEF-AB15-6EC5-1E23-083B5EAEC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1928813"/>
            <a:ext cx="8258175" cy="3714750"/>
          </a:xfrm>
        </p:spPr>
        <p:txBody>
          <a:bodyPr/>
          <a:lstStyle/>
          <a:p>
            <a:pPr eaLnBrk="1" hangingPunct="1"/>
            <a:r>
              <a:rPr lang="es-VE" altLang="es-CL" sz="2400" dirty="0"/>
              <a:t>Resumen Ejecutivo</a:t>
            </a:r>
          </a:p>
          <a:p>
            <a:pPr eaLnBrk="1" hangingPunct="1"/>
            <a:r>
              <a:rPr lang="es-VE" altLang="es-CL" sz="2400" dirty="0"/>
              <a:t>Definición del problema</a:t>
            </a:r>
          </a:p>
          <a:p>
            <a:pPr eaLnBrk="1" hangingPunct="1"/>
            <a:r>
              <a:rPr lang="es-VE" altLang="es-CL" sz="2400" dirty="0"/>
              <a:t>Visión General del Proyecto</a:t>
            </a:r>
          </a:p>
          <a:p>
            <a:pPr eaLnBrk="1" hangingPunct="1"/>
            <a:r>
              <a:rPr lang="es-VE" altLang="es-CL" sz="2400" dirty="0"/>
              <a:t>Alineación del proyecto con los objetivos estratégicos</a:t>
            </a:r>
          </a:p>
          <a:p>
            <a:pPr eaLnBrk="1" hangingPunct="1"/>
            <a:r>
              <a:rPr lang="es-VE" altLang="es-CL" sz="2400" dirty="0"/>
              <a:t>Análisis Costo Beneficio</a:t>
            </a:r>
          </a:p>
          <a:p>
            <a:pPr eaLnBrk="1" hangingPunct="1"/>
            <a:r>
              <a:rPr lang="es-VE" altLang="es-CL" sz="2400" dirty="0"/>
              <a:t>Análisis de Alternativas</a:t>
            </a:r>
          </a:p>
          <a:p>
            <a:pPr eaLnBrk="1" hangingPunct="1"/>
            <a:r>
              <a:rPr lang="es-VE" altLang="es-CL" sz="2400" dirty="0"/>
              <a:t>Aprobaciones</a:t>
            </a:r>
          </a:p>
        </p:txBody>
      </p:sp>
      <p:sp>
        <p:nvSpPr>
          <p:cNvPr id="8196" name="12 Marcador de número de diapositiva">
            <a:extLst>
              <a:ext uri="{FF2B5EF4-FFF2-40B4-BE49-F238E27FC236}">
                <a16:creationId xmlns:a16="http://schemas.microsoft.com/office/drawing/2014/main" id="{1012546E-81A3-FE91-C562-9BA1FAAE55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F3948C-04DD-D343-A68D-3125245C1EF6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s-VE" altLang="es-CL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F5CFDCEA-5EE9-5BBA-58B6-51B4EFA83967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Resumen Ejecutivo</a:t>
            </a:r>
          </a:p>
        </p:txBody>
      </p:sp>
      <p:sp>
        <p:nvSpPr>
          <p:cNvPr id="9219" name="7 Marcador de contenido">
            <a:extLst>
              <a:ext uri="{FF2B5EF4-FFF2-40B4-BE49-F238E27FC236}">
                <a16:creationId xmlns:a16="http://schemas.microsoft.com/office/drawing/2014/main" id="{16B688D7-579B-0B76-D6B1-FBB059219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063" y="1928813"/>
            <a:ext cx="8258175" cy="371475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s-VE" altLang="es-CL" sz="1800" b="1" dirty="0"/>
              <a:t>Problema: </a:t>
            </a:r>
            <a:r>
              <a:rPr lang="es-VE" altLang="es-CL" sz="1800" dirty="0"/>
              <a:t>A julio de 2026 se vendieron 11.413 vehículos eléctricos enchufables, un aumento del 157,2% en un año. Sin embargo, la infrestructura para estos vehículos, especialmente para viajes largos , no se ha adaptado a dicho crecimiento. Los usuarios de vehículos electricos tienen problemas para planificar sus viajes dado estas limitaciones.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s-VE" altLang="es-CL" sz="1800" dirty="0"/>
              <a:t>S</a:t>
            </a:r>
            <a:r>
              <a:rPr lang="es-VE" altLang="es-CL" sz="1800" b="1" dirty="0"/>
              <a:t>olución: </a:t>
            </a:r>
            <a:r>
              <a:rPr lang="es-VE" altLang="es-CL" sz="1800" dirty="0"/>
              <a:t>Electravelin será una plataforma web que propondrá paradas de carga, tiempos estimados de llegada y un alternativa segura combinando datos del vehículo, rutas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s-VE" altLang="es-CL" sz="1800" b="1" dirty="0"/>
              <a:t>Beneficio medible: Selección: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s-VE" altLang="es-CL" sz="1800" dirty="0">
                <a:solidFill>
                  <a:srgbClr val="00B050"/>
                </a:solidFill>
              </a:rPr>
              <a:t>Esta sección debe describir brevemente (en forma de sumario o resumen):</a:t>
            </a:r>
          </a:p>
          <a:p>
            <a:pPr eaLnBrk="1" hangingPunct="1"/>
            <a:r>
              <a:rPr lang="es-VE" altLang="es-CL" sz="1800" dirty="0">
                <a:solidFill>
                  <a:srgbClr val="00B050"/>
                </a:solidFill>
              </a:rPr>
              <a:t>El problema del negocio que el proyecto solucionará.</a:t>
            </a:r>
          </a:p>
          <a:p>
            <a:pPr eaLnBrk="1" hangingPunct="1"/>
            <a:r>
              <a:rPr lang="es-VE" altLang="es-CL" sz="1800" dirty="0">
                <a:solidFill>
                  <a:srgbClr val="00B050"/>
                </a:solidFill>
              </a:rPr>
              <a:t>Como el proyecto beneficiará al negocio, expresado en términos que se puedan medir (métricas, indicadores de éxito).</a:t>
            </a:r>
          </a:p>
          <a:p>
            <a:pPr eaLnBrk="1" hangingPunct="1"/>
            <a:r>
              <a:rPr lang="es-VE" altLang="es-CL" sz="1800" dirty="0">
                <a:solidFill>
                  <a:srgbClr val="00B050"/>
                </a:solidFill>
              </a:rPr>
              <a:t>En que consiste el proyecto (como se resolverá el problema de negocio).</a:t>
            </a:r>
          </a:p>
          <a:p>
            <a:pPr eaLnBrk="1" hangingPunct="1"/>
            <a:r>
              <a:rPr lang="es-VE" altLang="es-CL" sz="1800" dirty="0">
                <a:solidFill>
                  <a:srgbClr val="00B050"/>
                </a:solidFill>
              </a:rPr>
              <a:t>Justificación de porque el proyecto es la mejor opción para resolver el problema y por que fue seleccionado en lugar de otras alternativas.</a:t>
            </a:r>
          </a:p>
          <a:p>
            <a:pPr eaLnBrk="1" hangingPunct="1"/>
            <a:endParaRPr lang="es-VE" altLang="es-CL" sz="1800" dirty="0">
              <a:solidFill>
                <a:srgbClr val="00B050"/>
              </a:solidFill>
            </a:endParaRPr>
          </a:p>
        </p:txBody>
      </p:sp>
      <p:sp>
        <p:nvSpPr>
          <p:cNvPr id="9220" name="3 Marcador de número de diapositiva">
            <a:extLst>
              <a:ext uri="{FF2B5EF4-FFF2-40B4-BE49-F238E27FC236}">
                <a16:creationId xmlns:a16="http://schemas.microsoft.com/office/drawing/2014/main" id="{A54EC081-E5E9-DE03-4937-F77380951D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99D9D1-5B66-FD42-BBAC-5A6F5921DC97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s-VE" altLang="es-CL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5A8CA9F2-0903-DDC6-5D2F-6FD804E8D746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Descripción del Problema</a:t>
            </a:r>
          </a:p>
        </p:txBody>
      </p:sp>
      <p:sp>
        <p:nvSpPr>
          <p:cNvPr id="10243" name="7 Marcador de contenido">
            <a:extLst>
              <a:ext uri="{FF2B5EF4-FFF2-40B4-BE49-F238E27FC236}">
                <a16:creationId xmlns:a16="http://schemas.microsoft.com/office/drawing/2014/main" id="{91124869-C9D4-A8AB-2929-3C9C4E446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063" y="1928812"/>
            <a:ext cx="8258175" cy="4308499"/>
          </a:xfrm>
        </p:spPr>
        <p:txBody>
          <a:bodyPr/>
          <a:lstStyle/>
          <a:p>
            <a:pPr eaLnBrk="1" hangingPunct="1">
              <a:buNone/>
            </a:pPr>
            <a:r>
              <a:rPr lang="es-VE" altLang="es-CL" sz="1800" b="1" dirty="0"/>
              <a:t>Adopción acelerada:</a:t>
            </a:r>
            <a:r>
              <a:rPr lang="es-VE" altLang="es-CL" sz="1800" dirty="0"/>
              <a:t> los vehículos enchufables alcanzaron el 6,4% de las ventas nuevas a julio de 2026. El segmento creció más rápido que la infrestructura incorporada durante el mismo período.</a:t>
            </a:r>
          </a:p>
          <a:p>
            <a:pPr eaLnBrk="1" hangingPunct="1">
              <a:buNone/>
            </a:pPr>
            <a:r>
              <a:rPr lang="es-VE" altLang="es-CL" sz="1800" b="1" dirty="0"/>
              <a:t>Autonomía: </a:t>
            </a:r>
            <a:r>
              <a:rPr lang="es-VE" altLang="es-CL" sz="1800" dirty="0"/>
              <a:t>los vehículos electricos cuentan con autonomía promedio de 200 km, cifra muy por debajo de los vehículos a combustión. Esto transfiere mayor responsabilidad en el conductor para la planificación de su viaje.</a:t>
            </a:r>
            <a:endParaRPr lang="es-VE" altLang="es-CL" sz="1800" b="1" dirty="0"/>
          </a:p>
          <a:p>
            <a:pPr eaLnBrk="1" hangingPunct="1">
              <a:buNone/>
            </a:pPr>
            <a:r>
              <a:rPr lang="es-VE" altLang="es-CL" sz="1800" b="1" dirty="0"/>
              <a:t>Decision fragmentada: </a:t>
            </a:r>
            <a:r>
              <a:rPr lang="es-VE" altLang="es-CL" sz="1800" dirty="0"/>
              <a:t>EcoCarga informa ubicación, conector, precio y estado. Copec muestra solo sus puntos. El conductor todavía debe convertir esos datos, la autonomía real y las condiciones del trayecto en una secuencia de paradas con margen y un plan alternativo.</a:t>
            </a:r>
          </a:p>
          <a:p>
            <a:pPr eaLnBrk="1" hangingPunct="1">
              <a:buNone/>
            </a:pPr>
            <a:r>
              <a:rPr lang="es-VE" altLang="es-CL" sz="1800" b="1" dirty="0"/>
              <a:t>Impacto en la organización: </a:t>
            </a:r>
            <a:r>
              <a:rPr lang="es-VE" altLang="es-CL" sz="1800" dirty="0"/>
              <a:t>el proyecto requiere de planificación estratégica y obliga a gestionar calidad de datos, generar pruebas robustas, habilitar pipelines para el manejo de feedback de clientes y manejar protección de datos a nivel sistémico. </a:t>
            </a:r>
            <a:endParaRPr lang="es-VE" altLang="es-CL" sz="1800" b="1" dirty="0"/>
          </a:p>
          <a:p>
            <a:pPr eaLnBrk="1" hangingPunct="1">
              <a:buNone/>
            </a:pPr>
            <a:endParaRPr lang="es-VE" altLang="es-CL" sz="1800" b="1" dirty="0">
              <a:solidFill>
                <a:srgbClr val="00B050"/>
              </a:solidFill>
            </a:endParaRPr>
          </a:p>
        </p:txBody>
      </p:sp>
      <p:sp>
        <p:nvSpPr>
          <p:cNvPr id="10244" name="5 Marcador de número de diapositiva">
            <a:extLst>
              <a:ext uri="{FF2B5EF4-FFF2-40B4-BE49-F238E27FC236}">
                <a16:creationId xmlns:a16="http://schemas.microsoft.com/office/drawing/2014/main" id="{BC359645-3887-CE1A-92F5-C2BE93DA17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19744B-6D9F-4245-A2B2-C1394823C0DF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s-VE" altLang="es-CL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15E1FB31-941A-F9D0-A528-AA1FEF7464CE}"/>
              </a:ext>
            </a:extLst>
          </p:cNvPr>
          <p:cNvSpPr txBox="1">
            <a:spLocks/>
          </p:cNvSpPr>
          <p:nvPr/>
        </p:nvSpPr>
        <p:spPr>
          <a:xfrm>
            <a:off x="457200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Visión General del Proyecto</a:t>
            </a:r>
          </a:p>
        </p:txBody>
      </p:sp>
      <p:sp>
        <p:nvSpPr>
          <p:cNvPr id="11267" name="7 Marcador de contenido">
            <a:extLst>
              <a:ext uri="{FF2B5EF4-FFF2-40B4-BE49-F238E27FC236}">
                <a16:creationId xmlns:a16="http://schemas.microsoft.com/office/drawing/2014/main" id="{18BF88AB-CAD7-A79B-B33C-899E5A0532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2143125"/>
            <a:ext cx="7772400" cy="656431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s-VE" altLang="es-CL" sz="1400" dirty="0"/>
              <a:t>Una plataforma web que facilita la planificación de viajes largos en vehículos electricos en Chile. Utiliza la carga inicial, perfil del vehículo, sistemas de optimización de rutas y puntos públicos para proponer paradas compatibles y un plan alternativo.</a:t>
            </a:r>
          </a:p>
          <a:p>
            <a:pPr eaLnBrk="1" hangingPunct="1"/>
            <a:endParaRPr lang="es-VE" altLang="es-CL" sz="1400" dirty="0"/>
          </a:p>
          <a:p>
            <a:pPr eaLnBrk="1" hangingPunct="1"/>
            <a:endParaRPr lang="es-VE" altLang="es-CL" sz="1400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264BB5F9-AE11-5F13-1BAB-4BD45F4DAAED}"/>
              </a:ext>
            </a:extLst>
          </p:cNvPr>
          <p:cNvSpPr txBox="1">
            <a:spLocks/>
          </p:cNvSpPr>
          <p:nvPr/>
        </p:nvSpPr>
        <p:spPr>
          <a:xfrm>
            <a:off x="428625" y="1785938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000" b="1" dirty="0">
                <a:latin typeface="+mj-lt"/>
                <a:ea typeface="+mj-ea"/>
                <a:cs typeface="+mj-cs"/>
              </a:rPr>
              <a:t>Descripción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AD5CDE4E-D87C-852A-B61B-301813CADD99}"/>
              </a:ext>
            </a:extLst>
          </p:cNvPr>
          <p:cNvSpPr txBox="1">
            <a:spLocks/>
          </p:cNvSpPr>
          <p:nvPr/>
        </p:nvSpPr>
        <p:spPr>
          <a:xfrm>
            <a:off x="428625" y="2910030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000" b="1" dirty="0">
                <a:latin typeface="+mj-lt"/>
                <a:ea typeface="+mj-ea"/>
                <a:cs typeface="+mj-cs"/>
              </a:rPr>
              <a:t>Objetivos e indicadores de éxito</a:t>
            </a:r>
          </a:p>
        </p:txBody>
      </p:sp>
      <p:sp>
        <p:nvSpPr>
          <p:cNvPr id="11284" name="6 Marcador de número de diapositiva">
            <a:extLst>
              <a:ext uri="{FF2B5EF4-FFF2-40B4-BE49-F238E27FC236}">
                <a16:creationId xmlns:a16="http://schemas.microsoft.com/office/drawing/2014/main" id="{7CA888E7-F202-3245-5804-BC6C830EC9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968363-C55C-F14B-933E-F9477DE063CD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s-VE" altLang="es-CL" sz="1200">
              <a:solidFill>
                <a:srgbClr val="898989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D847AD2-FD7D-DF3B-014F-33C94A0927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6803960"/>
              </p:ext>
            </p:extLst>
          </p:nvPr>
        </p:nvGraphicFramePr>
        <p:xfrm>
          <a:off x="628650" y="3413835"/>
          <a:ext cx="7572375" cy="2686050"/>
        </p:xfrm>
        <a:graphic>
          <a:graphicData uri="http://schemas.openxmlformats.org/drawingml/2006/table">
            <a:tbl>
              <a:tblPr/>
              <a:tblGrid>
                <a:gridCol w="272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Objetivo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Métrica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Indicador de éxito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Entregar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un MVP web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funcional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Rutas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completas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generadas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pruebas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s-CL"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5 rutas con reserva final superior a 15%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Reducir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el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esfuerzo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planificación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Tiemp</a:t>
                      </a:r>
                      <a:r>
                        <a:rPr lang="es-419"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o de planificación 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y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puntaje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SUS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≤5 min; SUS ≥75 con </a:t>
                      </a:r>
                      <a:r>
                        <a:rPr lang="es-419"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usuarios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Proveer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información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confiable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para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decidir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paradas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Coincidencia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con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fuente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oficial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una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muestra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s-419"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Exactitud </a:t>
                      </a:r>
                      <a:r>
                        <a:rPr lang="es-CL" sz="1350" b="0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</a:rPr>
                        <a:t>≥ 95%. Precisión ≥ 95%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A8F24711-D0CD-813F-45FE-CF71BB1120C2}"/>
              </a:ext>
            </a:extLst>
          </p:cNvPr>
          <p:cNvSpPr txBox="1">
            <a:spLocks/>
          </p:cNvSpPr>
          <p:nvPr/>
        </p:nvSpPr>
        <p:spPr>
          <a:xfrm>
            <a:off x="457200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Visión General del Proyecto</a:t>
            </a:r>
          </a:p>
        </p:txBody>
      </p:sp>
      <p:sp>
        <p:nvSpPr>
          <p:cNvPr id="12291" name="7 Marcador de contenido">
            <a:extLst>
              <a:ext uri="{FF2B5EF4-FFF2-40B4-BE49-F238E27FC236}">
                <a16:creationId xmlns:a16="http://schemas.microsoft.com/office/drawing/2014/main" id="{79567D59-31E1-27E4-94EC-88CEE114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143124"/>
            <a:ext cx="8258175" cy="1644653"/>
          </a:xfrm>
        </p:spPr>
        <p:txBody>
          <a:bodyPr/>
          <a:lstStyle/>
          <a:p>
            <a:pPr eaLnBrk="1" hangingPunct="1"/>
            <a:r>
              <a:rPr lang="es-VE" altLang="es-CL" sz="1800" b="1" dirty="0"/>
              <a:t>Datos y servicios: </a:t>
            </a:r>
            <a:r>
              <a:rPr lang="es-VE" altLang="es-CL" sz="1800" dirty="0"/>
              <a:t>acceso a datos públicos provistos por el SEC y API de ruta entregarán información suficiente para el MVP.</a:t>
            </a:r>
          </a:p>
          <a:p>
            <a:pPr eaLnBrk="1" hangingPunct="1"/>
            <a:r>
              <a:rPr lang="es-VE" altLang="es-CL" sz="1800" b="1" dirty="0"/>
              <a:t>Rentabilidad: </a:t>
            </a:r>
            <a:r>
              <a:rPr lang="es-VE" altLang="es-CL" sz="1800" dirty="0"/>
              <a:t>la gerencia de producto estimó un VAN positivo para el proyecto</a:t>
            </a:r>
          </a:p>
          <a:p>
            <a:pPr eaLnBrk="1" hangingPunct="1"/>
            <a:r>
              <a:rPr lang="es-VE" altLang="es-CL" sz="1800" b="1" dirty="0"/>
              <a:t>Estimación: </a:t>
            </a:r>
            <a:r>
              <a:rPr lang="es-VE" altLang="es-CL" sz="1800" dirty="0"/>
              <a:t>el usuario informará carga inicial y el sistema usará consumos de referencia promedios, no siendo una garantía de autonomía</a:t>
            </a:r>
            <a:endParaRPr lang="es-VE" altLang="es-CL" sz="1800" b="1" dirty="0"/>
          </a:p>
          <a:p>
            <a:pPr marL="0" indent="0" eaLnBrk="1" hangingPunct="1">
              <a:buNone/>
            </a:pPr>
            <a:endParaRPr lang="es-VE" altLang="es-CL" sz="1800" dirty="0">
              <a:solidFill>
                <a:srgbClr val="00B050"/>
              </a:solidFill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B030A5BE-0928-8489-9003-D8E3F0BD0565}"/>
              </a:ext>
            </a:extLst>
          </p:cNvPr>
          <p:cNvSpPr txBox="1">
            <a:spLocks/>
          </p:cNvSpPr>
          <p:nvPr/>
        </p:nvSpPr>
        <p:spPr>
          <a:xfrm>
            <a:off x="428625" y="1785938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000" b="1" dirty="0">
                <a:latin typeface="+mj-lt"/>
                <a:ea typeface="+mj-ea"/>
                <a:cs typeface="+mj-cs"/>
              </a:rPr>
              <a:t>Premisas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6CE1AA1D-9FF5-F618-8150-64D8AA36BEEF}"/>
              </a:ext>
            </a:extLst>
          </p:cNvPr>
          <p:cNvSpPr txBox="1">
            <a:spLocks/>
          </p:cNvSpPr>
          <p:nvPr/>
        </p:nvSpPr>
        <p:spPr>
          <a:xfrm>
            <a:off x="457200" y="3859213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000" b="1" dirty="0">
                <a:latin typeface="+mj-lt"/>
                <a:ea typeface="+mj-ea"/>
                <a:cs typeface="+mj-cs"/>
              </a:rPr>
              <a:t>Restricciones</a:t>
            </a:r>
          </a:p>
        </p:txBody>
      </p:sp>
      <p:sp>
        <p:nvSpPr>
          <p:cNvPr id="12294" name="7 Marcador de contenido">
            <a:extLst>
              <a:ext uri="{FF2B5EF4-FFF2-40B4-BE49-F238E27FC236}">
                <a16:creationId xmlns:a16="http://schemas.microsoft.com/office/drawing/2014/main" id="{27D2639B-D636-20CB-68FC-17C9C4C51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4220689"/>
            <a:ext cx="8258175" cy="1872607"/>
          </a:xfrm>
        </p:spPr>
        <p:txBody>
          <a:bodyPr/>
          <a:lstStyle/>
          <a:p>
            <a:pPr eaLnBrk="1" hangingPunct="1"/>
            <a:r>
              <a:rPr lang="es-VE" altLang="es-CL" sz="1800" b="1" dirty="0"/>
              <a:t>Plazo: </a:t>
            </a:r>
            <a:r>
              <a:rPr lang="es-VE" altLang="es-CL" sz="1800" dirty="0"/>
              <a:t>MVP y documentación terminados el 24/11/2026.</a:t>
            </a:r>
          </a:p>
          <a:p>
            <a:pPr eaLnBrk="1" hangingPunct="1"/>
            <a:r>
              <a:rPr lang="es-VE" altLang="es-CL" sz="1800" b="1" dirty="0"/>
              <a:t>Presupuesto: </a:t>
            </a:r>
            <a:r>
              <a:rPr lang="es-VE" altLang="es-CL" sz="1800" dirty="0"/>
              <a:t>tope preliminar de CLP 10.000.000, incluídas horas hombre y contingencia</a:t>
            </a:r>
          </a:p>
          <a:p>
            <a:pPr eaLnBrk="1" hangingPunct="1"/>
            <a:r>
              <a:rPr lang="es-VE" altLang="es-CL" sz="1800" b="1" dirty="0"/>
              <a:t>Fuera de alcance: </a:t>
            </a:r>
            <a:r>
              <a:rPr lang="es-VE" altLang="es-CL" sz="1800" dirty="0"/>
              <a:t>construir cargadores, disponibilidad del sitio, app móvil.</a:t>
            </a:r>
          </a:p>
          <a:p>
            <a:pPr eaLnBrk="1" hangingPunct="1"/>
            <a:r>
              <a:rPr lang="es-VE" altLang="es-CL" sz="1800" b="1" dirty="0"/>
              <a:t>Dependencias: </a:t>
            </a:r>
            <a:r>
              <a:rPr lang="es-VE" altLang="es-CL" sz="1800" dirty="0"/>
              <a:t>cuotas, terminos de uso y calidad de datos externos</a:t>
            </a:r>
          </a:p>
          <a:p>
            <a:pPr eaLnBrk="1" hangingPunct="1"/>
            <a:endParaRPr lang="es-VE" altLang="es-CL" sz="1800" b="1" dirty="0">
              <a:solidFill>
                <a:srgbClr val="00B050"/>
              </a:solidFill>
            </a:endParaRPr>
          </a:p>
          <a:p>
            <a:pPr eaLnBrk="1" hangingPunct="1"/>
            <a:endParaRPr lang="es-VE" altLang="es-CL" sz="1800" dirty="0">
              <a:solidFill>
                <a:srgbClr val="00B050"/>
              </a:solidFill>
            </a:endParaRPr>
          </a:p>
        </p:txBody>
      </p:sp>
      <p:sp>
        <p:nvSpPr>
          <p:cNvPr id="12295" name="14 Marcador de número de diapositiva">
            <a:extLst>
              <a:ext uri="{FF2B5EF4-FFF2-40B4-BE49-F238E27FC236}">
                <a16:creationId xmlns:a16="http://schemas.microsoft.com/office/drawing/2014/main" id="{CEE44F20-68AE-72E3-0E16-6AFE2CAF38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6AA23D-2574-C34C-9396-72FE874E2362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s-VE" altLang="es-CL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F444326C-E8FE-0AE2-DAF5-7A9724346468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Alineación del Proyecto con los objetivos Estratégicos</a:t>
            </a:r>
          </a:p>
        </p:txBody>
      </p:sp>
      <p:sp>
        <p:nvSpPr>
          <p:cNvPr id="5" name="7 Marcador de contenido">
            <a:extLst>
              <a:ext uri="{FF2B5EF4-FFF2-40B4-BE49-F238E27FC236}">
                <a16:creationId xmlns:a16="http://schemas.microsoft.com/office/drawing/2014/main" id="{8F1DD74A-E492-B2CF-22AA-55721A4D5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063" y="1785938"/>
            <a:ext cx="8258175" cy="1285875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s-VE" sz="1800" dirty="0"/>
              <a:t>La iniciativa se alinea con la estrategia de la organización y con la política pública chilena vigente para acelerar la adopción de la electromovilidad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s-VE" sz="1800" dirty="0">
              <a:solidFill>
                <a:srgbClr val="00B050"/>
              </a:solidFill>
            </a:endParaRPr>
          </a:p>
        </p:txBody>
      </p:sp>
      <p:sp>
        <p:nvSpPr>
          <p:cNvPr id="13330" name="5 Marcador de número de diapositiva">
            <a:extLst>
              <a:ext uri="{FF2B5EF4-FFF2-40B4-BE49-F238E27FC236}">
                <a16:creationId xmlns:a16="http://schemas.microsoft.com/office/drawing/2014/main" id="{0B513F9A-94A7-C504-B34E-7C001C12FE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105896-B1DB-D143-80EE-443C6F12B11C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s-VE" altLang="es-CL" sz="1200">
              <a:solidFill>
                <a:srgbClr val="898989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3160B02-FB16-47C6-0DB2-E335698439A1}"/>
              </a:ext>
            </a:extLst>
          </p:cNvPr>
          <p:cNvGraphicFramePr/>
          <p:nvPr/>
        </p:nvGraphicFramePr>
        <p:xfrm>
          <a:off x="542925" y="2647950"/>
          <a:ext cx="8077200" cy="276225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Plan 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estratégico</a:t>
                      </a:r>
                      <a:endParaRPr sz="135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Objetivo</a:t>
                      </a:r>
                      <a:r>
                        <a:rPr sz="13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estratégico</a:t>
                      </a:r>
                      <a:endParaRPr sz="135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Relación con el proyecto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Plan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Estratégico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RutaEV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2026-2028 (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propuesto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Validar un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servicio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digital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escalable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para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viajes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interurbanos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VE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El MVP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prueba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factibilidad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utilidad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e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ingresos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antes de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financiar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un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producto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nacional</a:t>
                      </a:r>
                      <a:endParaRPr sz="1313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Estrategia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Nacional de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Electromovilidad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2030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Llegar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a 20% de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ventas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cero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emisiones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2030 y 100%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2035;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reforzar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carga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rutas</a:t>
                      </a:r>
                      <a:endParaRPr sz="1313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La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planificación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reduce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una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barrera de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uso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transforma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datos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interoperables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decisiones</a:t>
                      </a:r>
                      <a:r>
                        <a:rPr sz="1313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 </a:t>
                      </a:r>
                      <a:r>
                        <a:rPr sz="1313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viaje</a:t>
                      </a:r>
                      <a:endParaRPr sz="1313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uentes">
            <a:extLst>
              <a:ext uri="{FF2B5EF4-FFF2-40B4-BE49-F238E27FC236}">
                <a16:creationId xmlns:a16="http://schemas.microsoft.com/office/drawing/2014/main" id="{5EC76063-D99E-CB61-F44D-7F8CF1F888AF}"/>
              </a:ext>
            </a:extLst>
          </p:cNvPr>
          <p:cNvSpPr>
            <a:spLocks noGrp="1"/>
          </p:cNvSpPr>
          <p:nvPr/>
        </p:nvSpPr>
        <p:spPr>
          <a:xfrm>
            <a:off x="495300" y="5619750"/>
            <a:ext cx="7981950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Fuente: Ministerio de Energía, Estrategia Nacional de Electromovilidad 2030, junio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C45F0CF6-B34E-FFBC-2167-0AC4BC10A419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Análisis Costo Beneficio</a:t>
            </a:r>
          </a:p>
        </p:txBody>
      </p:sp>
      <p:sp>
        <p:nvSpPr>
          <p:cNvPr id="4" name="7 Marcador de contenido">
            <a:extLst>
              <a:ext uri="{FF2B5EF4-FFF2-40B4-BE49-F238E27FC236}">
                <a16:creationId xmlns:a16="http://schemas.microsoft.com/office/drawing/2014/main" id="{9EBEE73E-B499-4EE2-BA6F-2756E8A89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063" y="1785938"/>
            <a:ext cx="8258175" cy="1285875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s-VE" sz="1800" dirty="0"/>
              <a:t>Estimación preliminar del primer año en pesos chilenos. Las horas del equipo se valorizan como costo de oportunidad.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s-VE" sz="1800" b="1" dirty="0"/>
              <a:t>Costo total: </a:t>
            </a:r>
            <a:r>
              <a:rPr lang="es-VE" sz="1800" dirty="0"/>
              <a:t>CLP 6.865.500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s-VE" sz="1800" dirty="0">
              <a:solidFill>
                <a:srgbClr val="00B050"/>
              </a:solidFill>
            </a:endParaRP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1ECA8325-AA8F-9686-ADDA-EAAEBDFAFA27}"/>
              </a:ext>
            </a:extLst>
          </p:cNvPr>
          <p:cNvSpPr txBox="1">
            <a:spLocks/>
          </p:cNvSpPr>
          <p:nvPr/>
        </p:nvSpPr>
        <p:spPr>
          <a:xfrm>
            <a:off x="514350" y="3000375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000" b="1" dirty="0">
                <a:latin typeface="+mj-lt"/>
                <a:ea typeface="+mj-ea"/>
                <a:cs typeface="+mj-cs"/>
              </a:rPr>
              <a:t>Costos</a:t>
            </a:r>
          </a:p>
        </p:txBody>
      </p:sp>
      <p:sp>
        <p:nvSpPr>
          <p:cNvPr id="14364" name="6 Marcador de número de diapositiva">
            <a:extLst>
              <a:ext uri="{FF2B5EF4-FFF2-40B4-BE49-F238E27FC236}">
                <a16:creationId xmlns:a16="http://schemas.microsoft.com/office/drawing/2014/main" id="{79083908-65F1-6348-6ECA-930FB71269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DAF5D1-7F17-054B-A7D0-FBBA43530C6C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s-VE" altLang="es-CL" sz="1200">
              <a:solidFill>
                <a:srgbClr val="898989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865812D-6AC0-30D8-DDF4-355B98EC5A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855453"/>
              </p:ext>
            </p:extLst>
          </p:nvPr>
        </p:nvGraphicFramePr>
        <p:xfrm>
          <a:off x="485775" y="3500438"/>
          <a:ext cx="8172450" cy="2914650"/>
        </p:xfrm>
        <a:graphic>
          <a:graphicData uri="http://schemas.openxmlformats.org/drawingml/2006/table">
            <a:tbl>
              <a:tblPr/>
              <a:tblGrid>
                <a:gridCol w="598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Descripción</a:t>
                      </a:r>
                      <a:endParaRPr sz="1425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Costo primer año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Desarrollo e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integración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del MVP: </a:t>
                      </a:r>
                      <a:r>
                        <a:rPr lang="es-419"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 h × CLP 8.000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CLP </a:t>
                      </a:r>
                      <a:r>
                        <a:rPr lang="es-419"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3.840.000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Diseño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datos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aseguramiento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calidad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: 160 h × CLP 8.000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CLP 1.280.000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APIs, hosting,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monitoreo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dominios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CLP 600.000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Reclutamiento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e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incentivos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para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pruebas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 </a:t>
                      </a: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usuarios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CLP 250.000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Contingencia</a:t>
                      </a: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, 15% del subtotal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CLP </a:t>
                      </a:r>
                      <a:r>
                        <a:rPr lang="es-419" sz="1350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895.500</a:t>
                      </a:r>
                      <a:endParaRPr sz="1350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DC35B42B-2B51-B914-A23A-3701F13378B6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Análisis Costo Beneficio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8DD416E2-5B35-5C8B-1EB9-018FB0F40DF7}"/>
              </a:ext>
            </a:extLst>
          </p:cNvPr>
          <p:cNvSpPr txBox="1">
            <a:spLocks/>
          </p:cNvSpPr>
          <p:nvPr/>
        </p:nvSpPr>
        <p:spPr>
          <a:xfrm>
            <a:off x="514350" y="1857375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000" b="1" dirty="0">
                <a:latin typeface="+mj-lt"/>
                <a:ea typeface="+mj-ea"/>
                <a:cs typeface="+mj-cs"/>
              </a:rPr>
              <a:t>Beneficios</a:t>
            </a:r>
          </a:p>
        </p:txBody>
      </p:sp>
      <p:sp>
        <p:nvSpPr>
          <p:cNvPr id="8" name="7 Marcador de contenido">
            <a:extLst>
              <a:ext uri="{FF2B5EF4-FFF2-40B4-BE49-F238E27FC236}">
                <a16:creationId xmlns:a16="http://schemas.microsoft.com/office/drawing/2014/main" id="{2E93FBE1-170E-9FF7-FBF5-358326D22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063" y="5500688"/>
            <a:ext cx="8258175" cy="1096664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s-VE" sz="1800" b="1" dirty="0"/>
              <a:t>Beneficio total: </a:t>
            </a:r>
            <a:r>
              <a:rPr lang="es-VE" sz="1800" dirty="0"/>
              <a:t>CLP 12.000.00 </a:t>
            </a:r>
            <a:r>
              <a:rPr lang="es-VE" sz="1800" b="1" dirty="0"/>
              <a:t>- Beneficio neto: </a:t>
            </a:r>
            <a:r>
              <a:rPr lang="es-VE" sz="1800" dirty="0"/>
              <a:t>CLP 5.134.500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s-VE" sz="1800" b="1" dirty="0"/>
              <a:t>Razón Beneficio/Costo: </a:t>
            </a:r>
            <a:r>
              <a:rPr lang="es-VE" sz="1800" dirty="0"/>
              <a:t>1,74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s-VE" sz="1800" b="1" dirty="0"/>
              <a:t>Recuperación: </a:t>
            </a:r>
            <a:r>
              <a:rPr lang="es-VE" sz="1800" dirty="0"/>
              <a:t>6,8 meses desde lanzamiento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s-VE" sz="1800" dirty="0"/>
          </a:p>
          <a:p>
            <a:pPr eaLnBrk="1" hangingPunct="1">
              <a:buFont typeface="Arial" charset="0"/>
              <a:buChar char="•"/>
              <a:defRPr/>
            </a:pPr>
            <a:endParaRPr lang="es-VE" sz="1800" dirty="0"/>
          </a:p>
        </p:txBody>
      </p:sp>
      <p:sp>
        <p:nvSpPr>
          <p:cNvPr id="15382" name="8 Marcador de número de diapositiva">
            <a:extLst>
              <a:ext uri="{FF2B5EF4-FFF2-40B4-BE49-F238E27FC236}">
                <a16:creationId xmlns:a16="http://schemas.microsoft.com/office/drawing/2014/main" id="{C8B71F23-28C4-5D1D-B65E-C2D594D823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6E4577-5016-A148-9981-851217B0C1A9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s-VE" altLang="es-CL" sz="1200">
              <a:solidFill>
                <a:srgbClr val="898989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EC4AC41-E93E-FD1D-FC89-BD546D4521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4680656"/>
              </p:ext>
            </p:extLst>
          </p:nvPr>
        </p:nvGraphicFramePr>
        <p:xfrm>
          <a:off x="542925" y="2352675"/>
          <a:ext cx="8172450" cy="2724150"/>
        </p:xfrm>
        <a:graphic>
          <a:graphicData uri="http://schemas.openxmlformats.org/drawingml/2006/table">
            <a:tbl>
              <a:tblPr/>
              <a:tblGrid>
                <a:gridCol w="598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Descripción</a:t>
                      </a:r>
                      <a:endParaRPr sz="1425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Beneficio primer año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Suscripción</a:t>
                      </a: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piloto</a:t>
                      </a: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: 300 </a:t>
                      </a: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usuarios</a:t>
                      </a: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× CLP 20.000 al </a:t>
                      </a: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año</a:t>
                      </a:r>
                      <a:r>
                        <a:rPr lang="es-419"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(menor al 1% de vehículos eléctricos)</a:t>
                      </a:r>
                      <a:endParaRPr sz="1425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CLP 6.000.000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Dos </a:t>
                      </a: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licencias</a:t>
                      </a: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o </a:t>
                      </a: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pilotos</a:t>
                      </a: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B2B × CLP 2.000.000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CLP 4.000.000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Ahorro</a:t>
                      </a: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 </a:t>
                      </a: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soporte</a:t>
                      </a: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</a:t>
                      </a:r>
                      <a:r>
                        <a:rPr sz="1425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planificación</a:t>
                      </a:r>
                      <a:r>
                        <a:rPr lang="es-419"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internos de la empresa</a:t>
                      </a: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: 250 h × CLP 8.000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sz="1425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CLP 2.000.000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70010F54-A0E7-ED1D-6EA5-222826F2D1AD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Análisis de Alternativas</a:t>
            </a:r>
          </a:p>
        </p:txBody>
      </p:sp>
      <p:sp>
        <p:nvSpPr>
          <p:cNvPr id="5" name="7 Marcador de contenido">
            <a:extLst>
              <a:ext uri="{FF2B5EF4-FFF2-40B4-BE49-F238E27FC236}">
                <a16:creationId xmlns:a16="http://schemas.microsoft.com/office/drawing/2014/main" id="{8FD4DA88-E171-27CD-6AA4-4E3C7169A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063" y="1785938"/>
            <a:ext cx="8258175" cy="928687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s-VE" sz="1800" dirty="0"/>
              <a:t>Las alternativas siguientes resuelven solo una parte del poroblema o excenden el alcance semestral.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s-VE" sz="1800" dirty="0">
              <a:solidFill>
                <a:srgbClr val="00B050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s-VE" sz="1800" dirty="0">
              <a:solidFill>
                <a:srgbClr val="00B050"/>
              </a:solidFill>
            </a:endParaRPr>
          </a:p>
        </p:txBody>
      </p:sp>
      <p:sp>
        <p:nvSpPr>
          <p:cNvPr id="16414" name="5 Marcador de número de diapositiva">
            <a:extLst>
              <a:ext uri="{FF2B5EF4-FFF2-40B4-BE49-F238E27FC236}">
                <a16:creationId xmlns:a16="http://schemas.microsoft.com/office/drawing/2014/main" id="{2B82B97B-9470-C01F-4F83-E2AAF8E834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2A8528-4892-F44C-ABFF-E6D2D8C35150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s-VE" altLang="es-CL" sz="1200">
              <a:solidFill>
                <a:srgbClr val="898989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5D22254-C61F-9D66-8ADC-E44F55982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7773548"/>
              </p:ext>
            </p:extLst>
          </p:nvPr>
        </p:nvGraphicFramePr>
        <p:xfrm>
          <a:off x="542925" y="2686050"/>
          <a:ext cx="8172450" cy="2990850"/>
        </p:xfrm>
        <a:graphic>
          <a:graphicData uri="http://schemas.openxmlformats.org/drawingml/2006/table">
            <a:tbl>
              <a:tblPr/>
              <a:tblGrid>
                <a:gridCol w="38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Alternativa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Razón para no seleccionarla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Mantener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el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statu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quo: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EcoCarga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s-419"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Copec,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mapas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apps de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operadores</a:t>
                      </a:r>
                      <a:endParaRPr sz="1238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Exige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combinar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manualmente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autonomía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paradas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horarios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contingencias</a:t>
                      </a:r>
                      <a:r>
                        <a:rPr lang="es-419"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. Copec solo muestra sus centros.</a:t>
                      </a:r>
                      <a:endParaRPr sz="1238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Crear un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mapa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propio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 cargadores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Duplica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EcoCarga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no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transforma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la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información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una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ruta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factible</a:t>
                      </a:r>
                      <a:endParaRPr sz="1238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Integrarse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a un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único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operador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 carga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Entrega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buena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profundidad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pero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pierde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neutralidad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cobertura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entre redes</a:t>
                      </a:r>
                      <a:r>
                        <a:rPr lang="es-419"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. Mismo sistema que Copec.</a:t>
                      </a:r>
                      <a:endParaRPr sz="1238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Servicio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manual de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planificación</a:t>
                      </a:r>
                      <a:endParaRPr sz="1238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Permite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aprender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pero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escala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mal y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mantiene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alto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costo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por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viaje</a:t>
                      </a:r>
                      <a:endParaRPr sz="1238" b="0" dirty="0">
                        <a:solidFill>
                          <a:srgbClr val="1F2937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Construir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infraestructura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de carga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Requiere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capital,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permisos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y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plazos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incompatibles con un MVP semestral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70A5D7F5-CC7B-E79C-A960-6BDD8E0F83DA}"/>
              </a:ext>
            </a:extLst>
          </p:cNvPr>
          <p:cNvSpPr txBox="1">
            <a:spLocks/>
          </p:cNvSpPr>
          <p:nvPr/>
        </p:nvSpPr>
        <p:spPr>
          <a:xfrm>
            <a:off x="357188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Aprobaciones</a:t>
            </a:r>
          </a:p>
        </p:txBody>
      </p:sp>
      <p:sp>
        <p:nvSpPr>
          <p:cNvPr id="17453" name="5 Marcador de número de diapositiva">
            <a:extLst>
              <a:ext uri="{FF2B5EF4-FFF2-40B4-BE49-F238E27FC236}">
                <a16:creationId xmlns:a16="http://schemas.microsoft.com/office/drawing/2014/main" id="{AD3B92F3-C5AB-8010-239B-B8BD0BB165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32FD19-E75B-FC40-8109-08C09FD51782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s-VE" altLang="es-CL" sz="1200">
              <a:solidFill>
                <a:srgbClr val="898989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A714285-75FE-CEFD-4B0F-D46CA47970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674842"/>
              </p:ext>
            </p:extLst>
          </p:nvPr>
        </p:nvGraphicFramePr>
        <p:xfrm>
          <a:off x="500040" y="2000160"/>
          <a:ext cx="7786800" cy="2994914"/>
        </p:xfrm>
        <a:graphic>
          <a:graphicData uri="http://schemas.openxmlformats.org/drawingml/2006/table">
            <a:tbl>
              <a:tblPr/>
              <a:tblGrid>
                <a:gridCol w="194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75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Aprobador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75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Cargo en la organización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75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Firma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75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Fecha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Sponsor / </a:t>
                      </a: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Dirección</a:t>
                      </a: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Ejecutiva</a:t>
                      </a: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 dirty="0" err="1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Pendiente</a:t>
                      </a: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08/09/2026</a:t>
                      </a: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Cliente / Gerencia de Producto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Pendiente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 dirty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08/09/2026</a:t>
                      </a: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Jefatura del Proyecto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Pendiente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38" b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08/09/2026</a:t>
                      </a: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>
            <a:extLst>
              <a:ext uri="{FF2B5EF4-FFF2-40B4-BE49-F238E27FC236}">
                <a16:creationId xmlns:a16="http://schemas.microsoft.com/office/drawing/2014/main" id="{B18BD38E-2031-A5FF-283A-CBC1E2925C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VE" b="1" dirty="0"/>
              <a:t>Caso de Negocio</a:t>
            </a:r>
            <a:br>
              <a:rPr lang="es-VE" b="1" dirty="0"/>
            </a:br>
            <a:r>
              <a:rPr lang="es-VE" sz="2400" b="1" dirty="0">
                <a:solidFill>
                  <a:srgbClr val="00B050"/>
                </a:solidFill>
              </a:rPr>
              <a:t> [Nombre del Proyecto]</a:t>
            </a:r>
            <a:endParaRPr lang="es-VE" sz="2400" b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B56CBEC5-0D18-CAFB-6A83-0264E7B51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88" y="3786188"/>
            <a:ext cx="6400800" cy="1500187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Organización: </a:t>
            </a:r>
            <a:r>
              <a:rPr lang="es-VE" sz="2800" b="1" dirty="0">
                <a:solidFill>
                  <a:srgbClr val="00B050"/>
                </a:solidFill>
              </a:rPr>
              <a:t>[Empresa / Organización]</a:t>
            </a: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Fecha:</a:t>
            </a:r>
            <a:r>
              <a:rPr lang="es-VE" sz="2800" dirty="0"/>
              <a:t> </a:t>
            </a:r>
            <a:r>
              <a:rPr lang="es-VE" sz="2800" b="1" dirty="0">
                <a:solidFill>
                  <a:srgbClr val="00B050"/>
                </a:solidFill>
              </a:rPr>
              <a:t>[dd/mm/aaaa]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Cliente: </a:t>
            </a:r>
            <a:r>
              <a:rPr lang="es-VE" sz="2800" b="1" dirty="0">
                <a:solidFill>
                  <a:srgbClr val="00B050"/>
                </a:solidFill>
              </a:rPr>
              <a:t>[Principal cliente interno del proyecto]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Patrocinador: </a:t>
            </a:r>
            <a:r>
              <a:rPr lang="es-VE" sz="2800" b="1" dirty="0">
                <a:solidFill>
                  <a:srgbClr val="00B050"/>
                </a:solidFill>
              </a:rPr>
              <a:t>[Nombre del patrocinador]</a:t>
            </a: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s-VE" sz="2800" b="1" dirty="0">
              <a:solidFill>
                <a:srgbClr val="00B050"/>
              </a:solidFill>
            </a:endParaRPr>
          </a:p>
        </p:txBody>
      </p:sp>
      <p:sp>
        <p:nvSpPr>
          <p:cNvPr id="18436" name="3 Marcador de número de diapositiva">
            <a:extLst>
              <a:ext uri="{FF2B5EF4-FFF2-40B4-BE49-F238E27FC236}">
                <a16:creationId xmlns:a16="http://schemas.microsoft.com/office/drawing/2014/main" id="{75B04A34-5E1E-CB38-6CDA-2EB85BFA86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806E4B-A80B-664C-9012-9193FB206FB2}" type="slidenum">
              <a:rPr lang="es-VE" altLang="es-CL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s-VE" altLang="es-CL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9582</TotalTime>
  <Words>1119</Words>
  <Application>Microsoft Macintosh PowerPoint</Application>
  <PresentationFormat>Presentación en pantalla (4:3)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Tema de Office</vt:lpstr>
      <vt:lpstr>Caso de Negocio  Electravel #8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 de Negocio  [Nombre del Proyecto]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admin</dc:creator>
  <cp:lastModifiedBy>Cristián José Gandarillas Soza</cp:lastModifiedBy>
  <cp:revision>36</cp:revision>
  <dcterms:created xsi:type="dcterms:W3CDTF">2013-07-13T16:52:20Z</dcterms:created>
  <dcterms:modified xsi:type="dcterms:W3CDTF">2026-09-05T03:32:13Z</dcterms:modified>
</cp:coreProperties>
</file>