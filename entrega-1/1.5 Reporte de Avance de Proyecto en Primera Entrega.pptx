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76" r:id="rId4"/>
    <p:sldId id="292" r:id="rId5"/>
    <p:sldId id="293" r:id="rId6"/>
    <p:sldId id="294" r:id="rId7"/>
    <p:sldId id="280" r:id="rId8"/>
    <p:sldId id="286" r:id="rId9"/>
    <p:sldId id="287" r:id="rId10"/>
    <p:sldId id="291" r:id="rId11"/>
  </p:sldIdLst>
  <p:sldSz cx="9144000" cy="6858000" type="screen4x3"/>
  <p:notesSz cx="6858000" cy="9144000"/>
  <p:defaultTextStyle>
    <a:defPPr>
      <a:defRPr lang="es-V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38" autoAdjust="0"/>
  </p:normalViewPr>
  <p:slideViewPr>
    <p:cSldViewPr>
      <p:cViewPr varScale="1">
        <p:scale>
          <a:sx n="80" d="100"/>
          <a:sy n="80" d="100"/>
        </p:scale>
        <p:origin x="1227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0904D9D-9168-48DB-83A0-B43436BF9B37}" type="datetimeFigureOut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VE" noProof="0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VE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59F6A52-6298-42CA-B509-ACBC186838DD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 dirty="0">
              <a:latin typeface="+mn-lt"/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 dirty="0">
                <a:solidFill>
                  <a:srgbClr val="0D0D0D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 dirty="0">
              <a:latin typeface="+mn-lt"/>
              <a:cs typeface="+mn-cs"/>
            </a:endParaRP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 dirty="0">
                <a:solidFill>
                  <a:srgbClr val="365F9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8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8123E-0D08-472C-B70C-F129ABDF8BD7}" type="datetime1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9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383BE-0192-4720-9198-38EE4B446234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 dirty="0">
              <a:latin typeface="+mn-lt"/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 dirty="0">
                <a:solidFill>
                  <a:srgbClr val="0D0D0D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 dirty="0">
                <a:solidFill>
                  <a:srgbClr val="365F9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CA1287-3C34-49E0-ACA6-FF6FE3953718}" type="datetime1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V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89D32-9D0E-4F97-8AFF-238607D770DE}" type="datetime1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0A83FC-564C-4FC3-9FE3-73ADFF6C30B7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 dirty="0">
              <a:latin typeface="+mn-lt"/>
              <a:cs typeface="+mn-cs"/>
            </a:endParaRPr>
          </a:p>
        </p:txBody>
      </p:sp>
      <p:sp>
        <p:nvSpPr>
          <p:cNvPr id="6" name="Rectangle 3"/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 dirty="0">
                <a:solidFill>
                  <a:srgbClr val="0D0D0D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 dirty="0">
                <a:solidFill>
                  <a:srgbClr val="365F9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8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50390-F445-48F2-BC28-352004012CBD}" type="datetime1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9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0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E0BD00-1B5D-4D77-B27A-698F25FE46FB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214313" y="857250"/>
            <a:ext cx="8715375" cy="214313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s-VE" dirty="0">
              <a:latin typeface="+mn-lt"/>
              <a:cs typeface="+mn-cs"/>
            </a:endParaRPr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142875" y="549275"/>
            <a:ext cx="35718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tabLst>
                <a:tab pos="2806700" algn="ctr"/>
                <a:tab pos="5611813" algn="r"/>
              </a:tabLst>
              <a:defRPr/>
            </a:pPr>
            <a:r>
              <a:rPr lang="es-VE" sz="1400" b="1" dirty="0">
                <a:solidFill>
                  <a:srgbClr val="0D0D0D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La Oficina de Proyectos de Informática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 userDrawn="1"/>
        </p:nvSpPr>
        <p:spPr bwMode="auto">
          <a:xfrm>
            <a:off x="6572250" y="581025"/>
            <a:ext cx="2428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r">
              <a:tabLst>
                <a:tab pos="2806700" algn="ctr"/>
                <a:tab pos="5611813" algn="r"/>
              </a:tabLst>
              <a:defRPr/>
            </a:pPr>
            <a:r>
              <a:rPr lang="es-VE" sz="1200" b="1" i="1" dirty="0">
                <a:solidFill>
                  <a:srgbClr val="365F91"/>
                </a:solidFill>
                <a:latin typeface="Arial" pitchFamily="34" charset="0"/>
                <a:ea typeface="Calibri" pitchFamily="34" charset="0"/>
                <a:cs typeface="Times New Roman" pitchFamily="18" charset="0"/>
              </a:rPr>
              <a:t>www.pmoinformatica.com</a:t>
            </a:r>
            <a:endParaRPr lang="es-V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10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1E5A29-DD58-4F98-B717-B6A1AFB07018}" type="datetime1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11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12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41C12-7BC0-4121-9951-888A18C1A6E2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015DC2-ABCF-41A0-9CE7-31C47E29BD3B}" type="datetime1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58769E-51EE-4376-B68B-337A0A9EC301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CCFFE-B370-4C62-B853-E17A73FB89EA}" type="datetime1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0A117-6C6C-4D4A-8F2E-F17A2A41F9E5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B25E8-F03A-4D08-BC2E-8312441BCFEC}" type="datetime1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60E2A-07D7-432E-8C29-71938A26061A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VE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ED3366-778F-4BD5-BD03-369B496DC820}" type="datetime1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2F224-79C8-4C7A-8230-1B7C9B9B112C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78FAE-9FD9-40B7-A185-579ED235D951}" type="datetime1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8A464E-DEBD-481B-BC28-278AE16E4B8A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14E014-C994-46F2-AC56-96902BFAC91B}" type="datetime1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8D91A-6852-4D17-BA31-E353A5CA3419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6A7A2F3-BC87-4178-8732-E3518D618DAA}" type="datetime1">
              <a:rPr lang="es-VE"/>
              <a:pPr>
                <a:defRPr/>
              </a:pPr>
              <a:t>2/8/2026</a:t>
            </a:fld>
            <a:endParaRPr lang="es-VE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EFEFD63-5D7E-4B2F-B2EE-382FB4F3EF8A}" type="slidenum">
              <a:rPr lang="es-VE"/>
              <a:pPr>
                <a:defRPr/>
              </a:pPr>
              <a:t>‹Nº›</a:t>
            </a:fld>
            <a:endParaRPr lang="es-V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39" r:id="rId3"/>
    <p:sldLayoutId id="2147483748" r:id="rId4"/>
    <p:sldLayoutId id="214748374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VE" b="1" dirty="0"/>
              <a:t>Reporte de Avance de Proyecto</a:t>
            </a:r>
            <a:r>
              <a:rPr lang="es-VE" sz="2400" b="1" dirty="0">
                <a:solidFill>
                  <a:srgbClr val="00B050"/>
                </a:solidFill>
              </a:rPr>
              <a:t> [Nombre del </a:t>
            </a:r>
            <a:r>
              <a:rPr lang="es-VE" sz="2400" b="1">
                <a:solidFill>
                  <a:srgbClr val="00B050"/>
                </a:solidFill>
              </a:rPr>
              <a:t>Proyecto] [#Grupo]</a:t>
            </a:r>
            <a:endParaRPr lang="es-VE" sz="2400" b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00188" y="3786188"/>
            <a:ext cx="6400800" cy="1500187"/>
          </a:xfr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VE" sz="2800" b="1" dirty="0"/>
              <a:t>Período: </a:t>
            </a:r>
            <a:r>
              <a:rPr lang="es-VE" sz="2800" b="1" dirty="0">
                <a:solidFill>
                  <a:srgbClr val="00B050"/>
                </a:solidFill>
              </a:rPr>
              <a:t>[dd/mm/aaaa] al [dd/mm/aaaa]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s-VE" sz="2800" b="1" dirty="0"/>
              <a:t>Organización: </a:t>
            </a:r>
            <a:r>
              <a:rPr lang="es-VE" sz="2800" b="1" dirty="0">
                <a:solidFill>
                  <a:srgbClr val="00B050"/>
                </a:solidFill>
              </a:rPr>
              <a:t>[Empresa / Organización]</a:t>
            </a:r>
            <a:endParaRPr lang="es-VE" sz="2800" b="1" dirty="0"/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s-VE" sz="2800" b="1" dirty="0"/>
              <a:t>Cliente: </a:t>
            </a:r>
            <a:r>
              <a:rPr lang="es-VE" sz="2800" b="1" dirty="0">
                <a:solidFill>
                  <a:srgbClr val="00B050"/>
                </a:solidFill>
              </a:rPr>
              <a:t>[Principal cliente interno del proyecto]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s-VE" sz="2800" b="1" dirty="0"/>
              <a:t>Gerente del Proyecto: </a:t>
            </a:r>
            <a:r>
              <a:rPr lang="es-VE" sz="2800" b="1" dirty="0">
                <a:solidFill>
                  <a:srgbClr val="00B050"/>
                </a:solidFill>
              </a:rPr>
              <a:t>[Nombre del Gerente]</a:t>
            </a:r>
            <a:endParaRPr lang="es-VE" sz="2800" b="1" dirty="0"/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s-VE" sz="2800" b="1" dirty="0"/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s-VE" sz="2800" b="1" dirty="0">
              <a:solidFill>
                <a:srgbClr val="00B05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BBE491-7CC4-4674-AE06-167FAC1922A8}" type="slidenum">
              <a:rPr lang="es-VE" smtClean="0"/>
              <a:pPr>
                <a:defRPr/>
              </a:pPr>
              <a:t>1</a:t>
            </a:fld>
            <a:endParaRPr lang="es-V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/>
          <p:cNvSpPr txBox="1">
            <a:spLocks/>
          </p:cNvSpPr>
          <p:nvPr/>
        </p:nvSpPr>
        <p:spPr>
          <a:xfrm>
            <a:off x="600075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Agenda</a:t>
            </a:r>
          </a:p>
        </p:txBody>
      </p:sp>
      <p:sp>
        <p:nvSpPr>
          <p:cNvPr id="7171" name="7 Marcador de contenido"/>
          <p:cNvSpPr>
            <a:spLocks noGrp="1"/>
          </p:cNvSpPr>
          <p:nvPr>
            <p:ph sz="half" idx="1"/>
          </p:nvPr>
        </p:nvSpPr>
        <p:spPr>
          <a:xfrm>
            <a:off x="600075" y="1808737"/>
            <a:ext cx="8258175" cy="4500583"/>
          </a:xfrm>
        </p:spPr>
        <p:txBody>
          <a:bodyPr/>
          <a:lstStyle/>
          <a:p>
            <a:pPr eaLnBrk="1" hangingPunct="1"/>
            <a:endParaRPr lang="es-VE" sz="2400" dirty="0"/>
          </a:p>
          <a:p>
            <a:pPr eaLnBrk="1" hangingPunct="1"/>
            <a:r>
              <a:rPr lang="es-MX" sz="2400" dirty="0"/>
              <a:t>Caso de Negocio</a:t>
            </a:r>
          </a:p>
          <a:p>
            <a:pPr marL="342900" lvl="1" indent="-342900" eaLnBrk="1" hangingPunct="1">
              <a:buFont typeface="Arial" charset="0"/>
              <a:buChar char="•"/>
            </a:pPr>
            <a:r>
              <a:rPr lang="es-MX" dirty="0"/>
              <a:t>Acta de constitución</a:t>
            </a:r>
          </a:p>
          <a:p>
            <a:pPr marL="342900" lvl="1" indent="-342900" eaLnBrk="1" hangingPunct="1">
              <a:buFont typeface="Arial" charset="0"/>
              <a:buChar char="•"/>
            </a:pPr>
            <a:r>
              <a:rPr lang="es-MX" dirty="0"/>
              <a:t>Análisis de Interesados</a:t>
            </a:r>
          </a:p>
          <a:p>
            <a:pPr marL="342900" lvl="1" indent="-342900" eaLnBrk="1" hangingPunct="1">
              <a:buFont typeface="Arial" charset="0"/>
              <a:buChar char="•"/>
            </a:pPr>
            <a:r>
              <a:rPr lang="es-MX" dirty="0"/>
              <a:t>Acta de constitución del equipo</a:t>
            </a:r>
          </a:p>
          <a:p>
            <a:pPr eaLnBrk="1" hangingPunct="1"/>
            <a:r>
              <a:rPr lang="es-VE" sz="2400" dirty="0"/>
              <a:t>Estado actual de los riesgos</a:t>
            </a:r>
          </a:p>
          <a:p>
            <a:pPr eaLnBrk="1" hangingPunct="1"/>
            <a:r>
              <a:rPr lang="es-VE" sz="2400" dirty="0"/>
              <a:t>Objetivos para el próximo Periodo</a:t>
            </a:r>
          </a:p>
          <a:p>
            <a:pPr eaLnBrk="1" hangingPunct="1"/>
            <a:r>
              <a:rPr lang="es-VE" sz="2400" dirty="0"/>
              <a:t>Decisiones Pendientes</a:t>
            </a:r>
          </a:p>
          <a:p>
            <a:pPr eaLnBrk="1" hangingPunct="1"/>
            <a:endParaRPr lang="es-VE" sz="2400" dirty="0"/>
          </a:p>
        </p:txBody>
      </p:sp>
      <p:sp>
        <p:nvSpPr>
          <p:cNvPr id="13" name="1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DE5AD7-B0FA-4E6C-9974-AC1F68A04346}" type="slidenum">
              <a:rPr lang="es-VE" smtClean="0"/>
              <a:pPr>
                <a:defRPr/>
              </a:pPr>
              <a:t>2</a:t>
            </a:fld>
            <a:endParaRPr lang="es-V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/>
          <p:cNvSpPr txBox="1">
            <a:spLocks/>
          </p:cNvSpPr>
          <p:nvPr/>
        </p:nvSpPr>
        <p:spPr>
          <a:xfrm>
            <a:off x="157163" y="1357331"/>
            <a:ext cx="7772400" cy="357188"/>
          </a:xfrm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s-MX" sz="2800" dirty="0"/>
              <a:t>Caso de Negocio</a:t>
            </a:r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1FDE55-8206-4F2D-970B-3E4676036EF5}" type="slidenum">
              <a:rPr lang="es-VE" smtClean="0"/>
              <a:pPr>
                <a:defRPr/>
              </a:pPr>
              <a:t>3</a:t>
            </a:fld>
            <a:endParaRPr lang="es-VE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59A2233-4139-A07D-C391-34B3F55D6B4A}"/>
              </a:ext>
            </a:extLst>
          </p:cNvPr>
          <p:cNvSpPr txBox="1"/>
          <p:nvPr/>
        </p:nvSpPr>
        <p:spPr>
          <a:xfrm>
            <a:off x="189856" y="2004109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Resumen del caso de Negocio</a:t>
            </a:r>
            <a:endParaRPr lang="es-CL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174BC-4888-0766-D4A2-9B5A928A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93109A11-AB30-D26D-6B39-2975A4930CD3}"/>
              </a:ext>
            </a:extLst>
          </p:cNvPr>
          <p:cNvSpPr txBox="1">
            <a:spLocks/>
          </p:cNvSpPr>
          <p:nvPr/>
        </p:nvSpPr>
        <p:spPr>
          <a:xfrm>
            <a:off x="157163" y="1357331"/>
            <a:ext cx="7772400" cy="357188"/>
          </a:xfrm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s-MX" sz="2800" dirty="0"/>
              <a:t>Acta de Constitución</a:t>
            </a:r>
          </a:p>
        </p:txBody>
      </p:sp>
      <p:sp>
        <p:nvSpPr>
          <p:cNvPr id="15" name="14 Marcador de número de diapositiva">
            <a:extLst>
              <a:ext uri="{FF2B5EF4-FFF2-40B4-BE49-F238E27FC236}">
                <a16:creationId xmlns:a16="http://schemas.microsoft.com/office/drawing/2014/main" id="{F1B4E4E9-6467-3004-38BC-EA0422B75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1FDE55-8206-4F2D-970B-3E4676036EF5}" type="slidenum">
              <a:rPr lang="es-VE" smtClean="0"/>
              <a:pPr>
                <a:defRPr/>
              </a:pPr>
              <a:t>4</a:t>
            </a:fld>
            <a:endParaRPr lang="es-VE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0A8C5C-7493-3149-D560-D65FB137B4F4}"/>
              </a:ext>
            </a:extLst>
          </p:cNvPr>
          <p:cNvSpPr txBox="1"/>
          <p:nvPr/>
        </p:nvSpPr>
        <p:spPr>
          <a:xfrm>
            <a:off x="189856" y="2004109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Resumen del acta de constitución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16484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43770-7A5A-7C1E-2378-98AAF6CA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7D6285DA-5F0A-2D57-A5A0-4BDB942D9536}"/>
              </a:ext>
            </a:extLst>
          </p:cNvPr>
          <p:cNvSpPr txBox="1">
            <a:spLocks/>
          </p:cNvSpPr>
          <p:nvPr/>
        </p:nvSpPr>
        <p:spPr>
          <a:xfrm>
            <a:off x="157163" y="1357331"/>
            <a:ext cx="7772400" cy="357188"/>
          </a:xfrm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s-MX" sz="2800" dirty="0"/>
              <a:t>Análisis de Interesados</a:t>
            </a:r>
          </a:p>
        </p:txBody>
      </p:sp>
      <p:sp>
        <p:nvSpPr>
          <p:cNvPr id="15" name="14 Marcador de número de diapositiva">
            <a:extLst>
              <a:ext uri="{FF2B5EF4-FFF2-40B4-BE49-F238E27FC236}">
                <a16:creationId xmlns:a16="http://schemas.microsoft.com/office/drawing/2014/main" id="{3CB95CE2-303C-5519-A096-B5ADA76D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1FDE55-8206-4F2D-970B-3E4676036EF5}" type="slidenum">
              <a:rPr lang="es-VE" smtClean="0"/>
              <a:pPr>
                <a:defRPr/>
              </a:pPr>
              <a:t>5</a:t>
            </a:fld>
            <a:endParaRPr lang="es-VE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5FAFD54-4CB9-B76A-7CD2-00F0695B8287}"/>
              </a:ext>
            </a:extLst>
          </p:cNvPr>
          <p:cNvSpPr txBox="1"/>
          <p:nvPr/>
        </p:nvSpPr>
        <p:spPr>
          <a:xfrm>
            <a:off x="189856" y="2004109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Resumen del análisis de interesados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04040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8A6AA-88D0-3D1B-C12A-AEDC68214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>
            <a:extLst>
              <a:ext uri="{FF2B5EF4-FFF2-40B4-BE49-F238E27FC236}">
                <a16:creationId xmlns:a16="http://schemas.microsoft.com/office/drawing/2014/main" id="{BE565CF8-421E-1B39-30E8-F160766ACCD0}"/>
              </a:ext>
            </a:extLst>
          </p:cNvPr>
          <p:cNvSpPr txBox="1">
            <a:spLocks/>
          </p:cNvSpPr>
          <p:nvPr/>
        </p:nvSpPr>
        <p:spPr>
          <a:xfrm>
            <a:off x="157163" y="1357331"/>
            <a:ext cx="7772400" cy="357188"/>
          </a:xfrm>
          <a:prstGeom prst="rect">
            <a:avLst/>
          </a:prstGeom>
        </p:spPr>
        <p:txBody>
          <a:bodyPr anchor="ctr"/>
          <a:lstStyle/>
          <a:p>
            <a:pPr eaLnBrk="1" hangingPunct="1"/>
            <a:r>
              <a:rPr lang="es-MX" sz="2800" dirty="0"/>
              <a:t>Acta de Constitución de Equipo</a:t>
            </a:r>
          </a:p>
        </p:txBody>
      </p:sp>
      <p:sp>
        <p:nvSpPr>
          <p:cNvPr id="15" name="14 Marcador de número de diapositiva">
            <a:extLst>
              <a:ext uri="{FF2B5EF4-FFF2-40B4-BE49-F238E27FC236}">
                <a16:creationId xmlns:a16="http://schemas.microsoft.com/office/drawing/2014/main" id="{48D3F98E-2BD3-2649-3A5A-DADA4B912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1FDE55-8206-4F2D-970B-3E4676036EF5}" type="slidenum">
              <a:rPr lang="es-VE" smtClean="0"/>
              <a:pPr>
                <a:defRPr/>
              </a:pPr>
              <a:t>6</a:t>
            </a:fld>
            <a:endParaRPr lang="es-VE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8DF742C-5DA7-C18D-F728-5510186E1A84}"/>
              </a:ext>
            </a:extLst>
          </p:cNvPr>
          <p:cNvSpPr txBox="1"/>
          <p:nvPr/>
        </p:nvSpPr>
        <p:spPr>
          <a:xfrm>
            <a:off x="189856" y="2004109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Resumen del acta de constitución de equipo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34824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/>
          <p:cNvSpPr txBox="1">
            <a:spLocks/>
          </p:cNvSpPr>
          <p:nvPr/>
        </p:nvSpPr>
        <p:spPr>
          <a:xfrm>
            <a:off x="142875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Estado actual de riesgos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F991EA-58A1-4979-9683-F162A4C506E1}" type="slidenum">
              <a:rPr lang="es-VE" smtClean="0"/>
              <a:pPr>
                <a:defRPr/>
              </a:pPr>
              <a:t>7</a:t>
            </a:fld>
            <a:endParaRPr lang="es-VE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/>
        </p:nvGraphicFramePr>
        <p:xfrm>
          <a:off x="214313" y="1928813"/>
          <a:ext cx="8643966" cy="353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5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7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190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/>
                        <a:t>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/>
                        <a:t>Impacto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/>
                        <a:t>Plan</a:t>
                      </a:r>
                      <a:r>
                        <a:rPr lang="es-VE" sz="1400" baseline="0" dirty="0"/>
                        <a:t> de Respuesta al Riesgo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/>
                        <a:t>Responsable</a:t>
                      </a:r>
                      <a:r>
                        <a:rPr lang="es-VE" sz="1400" baseline="0" dirty="0"/>
                        <a:t> del Plan de Respuesta</a:t>
                      </a:r>
                      <a:endParaRPr lang="es-V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r>
                        <a:rPr lang="es-VE" sz="1400" dirty="0">
                          <a:solidFill>
                            <a:srgbClr val="00B050"/>
                          </a:solidFill>
                        </a:rPr>
                        <a:t>Describe el Riesgo,</a:t>
                      </a:r>
                      <a:r>
                        <a:rPr lang="es-VE" sz="1400" baseline="0" dirty="0">
                          <a:solidFill>
                            <a:srgbClr val="00B050"/>
                          </a:solidFill>
                        </a:rPr>
                        <a:t> incluyendo sus causas raíces</a:t>
                      </a:r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VE" sz="14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Variable</a:t>
                      </a:r>
                      <a:r>
                        <a:rPr lang="es-VE" sz="1400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de proyecto que podría afectarse (Tiempo, Costo, Alcance, Calidad)</a:t>
                      </a:r>
                    </a:p>
                    <a:p>
                      <a:pPr algn="l"/>
                      <a:endParaRPr lang="es-VE" sz="1400" kern="1200" baseline="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s-VE" sz="1400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Incluye medida de ese impacto según se establezca para cada variable.</a:t>
                      </a:r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Acciones correctivas que se están tomando para reparar</a:t>
                      </a:r>
                      <a:r>
                        <a:rPr lang="es-VE" sz="1400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el defecto o corregir el incidente</a:t>
                      </a:r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Nombre, cargo y departamento responsable</a:t>
                      </a:r>
                      <a:r>
                        <a:rPr lang="es-VE" sz="1400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de ejecutar las acciones correctivas</a:t>
                      </a:r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/>
          <p:cNvSpPr txBox="1">
            <a:spLocks/>
          </p:cNvSpPr>
          <p:nvPr/>
        </p:nvSpPr>
        <p:spPr>
          <a:xfrm>
            <a:off x="142875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Objetivos para el próximo período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0BEFE6-F78A-43FC-B7B5-216ACBB23DE9}" type="slidenum">
              <a:rPr lang="es-VE" smtClean="0"/>
              <a:pPr>
                <a:defRPr/>
              </a:pPr>
              <a:t>8</a:t>
            </a:fld>
            <a:endParaRPr lang="es-VE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485445"/>
              </p:ext>
            </p:extLst>
          </p:nvPr>
        </p:nvGraphicFramePr>
        <p:xfrm>
          <a:off x="285750" y="1928813"/>
          <a:ext cx="8643998" cy="4390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190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/>
                        <a:t>Compromiso / Pendiente</a:t>
                      </a:r>
                      <a:r>
                        <a:rPr lang="es-VE" sz="1400" baseline="0" dirty="0"/>
                        <a:t> / Actividad</a:t>
                      </a:r>
                      <a:endParaRPr lang="es-VE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/>
                        <a:t>Responsable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/>
                        <a:t>Fecha Compromiso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/>
                        <a:t>Estado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r>
                        <a:rPr lang="es-VE" sz="1400" dirty="0">
                          <a:solidFill>
                            <a:srgbClr val="00B050"/>
                          </a:solidFill>
                        </a:rPr>
                        <a:t>En cada reunión de avance, se identifican </a:t>
                      </a:r>
                      <a:r>
                        <a:rPr lang="es-VE" sz="1400" baseline="0" dirty="0">
                          <a:solidFill>
                            <a:srgbClr val="00B050"/>
                          </a:solidFill>
                        </a:rPr>
                        <a:t>pendientes o compromisos que el equipo o interesados deben atender, estos compromisos se listan para su seguimiento.</a:t>
                      </a:r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VE" sz="14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Nombre, Cargo y departamento del responsable a quien está asignado</a:t>
                      </a:r>
                      <a:r>
                        <a:rPr lang="es-VE" sz="1400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el compromiso</a:t>
                      </a:r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b="0" dirty="0">
                          <a:solidFill>
                            <a:srgbClr val="00B050"/>
                          </a:solidFill>
                        </a:rPr>
                        <a:t>[dd/mm/aaaa] </a:t>
                      </a:r>
                      <a:endParaRPr lang="es-VE" sz="1400" b="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Posibles</a:t>
                      </a:r>
                      <a:r>
                        <a:rPr lang="es-VE" sz="1400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Estados: No Iniciado o en Ejecución</a:t>
                      </a:r>
                    </a:p>
                    <a:p>
                      <a:pPr algn="ctr"/>
                      <a:endParaRPr lang="es-VE" sz="1400" kern="1200" baseline="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b="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b="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b="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b="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b="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b="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b="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/>
          <p:cNvSpPr txBox="1">
            <a:spLocks/>
          </p:cNvSpPr>
          <p:nvPr/>
        </p:nvSpPr>
        <p:spPr>
          <a:xfrm>
            <a:off x="142875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Decisiones pendientes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0BEFE6-F78A-43FC-B7B5-216ACBB23DE9}" type="slidenum">
              <a:rPr lang="es-VE" smtClean="0"/>
              <a:pPr>
                <a:defRPr/>
              </a:pPr>
              <a:t>9</a:t>
            </a:fld>
            <a:endParaRPr lang="es-VE" dirty="0"/>
          </a:p>
        </p:txBody>
      </p:sp>
      <p:graphicFrame>
        <p:nvGraphicFramePr>
          <p:cNvPr id="5" name="4 Tabla"/>
          <p:cNvGraphicFramePr>
            <a:graphicFrameLocks noGrp="1"/>
          </p:cNvGraphicFramePr>
          <p:nvPr/>
        </p:nvGraphicFramePr>
        <p:xfrm>
          <a:off x="285750" y="1928813"/>
          <a:ext cx="8501092" cy="358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3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190">
                <a:tc>
                  <a:txBody>
                    <a:bodyPr/>
                    <a:lstStyle/>
                    <a:p>
                      <a:pPr algn="ctr"/>
                      <a:r>
                        <a:rPr lang="es-VE" sz="1400" dirty="0"/>
                        <a:t>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/>
                        <a:t>Responsable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dirty="0"/>
                        <a:t>Impacto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r>
                        <a:rPr lang="es-VE" sz="1400" dirty="0">
                          <a:solidFill>
                            <a:srgbClr val="00B050"/>
                          </a:solidFill>
                        </a:rPr>
                        <a:t>Decisión pendiente</a:t>
                      </a:r>
                      <a:r>
                        <a:rPr lang="es-VE" sz="1400" baseline="0" dirty="0">
                          <a:solidFill>
                            <a:srgbClr val="00B050"/>
                          </a:solidFill>
                        </a:rPr>
                        <a:t> de tomar-</a:t>
                      </a:r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VE" sz="14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Nombre, Cargo y departamento del responsable quien debe tomar la 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400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Impacto de postergar</a:t>
                      </a:r>
                      <a:r>
                        <a:rPr lang="es-VE" sz="1400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la decisión.</a:t>
                      </a:r>
                    </a:p>
                    <a:p>
                      <a:pPr algn="ctr"/>
                      <a:endParaRPr lang="es-VE" sz="1400" kern="1200" baseline="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190">
                <a:tc>
                  <a:txBody>
                    <a:bodyPr/>
                    <a:lstStyle/>
                    <a:p>
                      <a:pPr algn="l"/>
                      <a:endParaRPr lang="es-VE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VE" sz="1400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 Título"/>
          <p:cNvSpPr txBox="1">
            <a:spLocks/>
          </p:cNvSpPr>
          <p:nvPr/>
        </p:nvSpPr>
        <p:spPr>
          <a:xfrm>
            <a:off x="142875" y="1357313"/>
            <a:ext cx="7772400" cy="35718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s-VE" sz="2800" b="1" dirty="0">
                <a:latin typeface="+mj-lt"/>
                <a:ea typeface="+mj-ea"/>
                <a:cs typeface="+mj-cs"/>
              </a:rPr>
              <a:t>Presentación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0BEFE6-F78A-43FC-B7B5-216ACBB23DE9}" type="slidenum">
              <a:rPr lang="es-VE" smtClean="0"/>
              <a:pPr>
                <a:defRPr/>
              </a:pPr>
              <a:t>10</a:t>
            </a:fld>
            <a:endParaRPr lang="es-VE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44EDA34-750C-73EF-126B-7BAF77A6E184}"/>
              </a:ext>
            </a:extLst>
          </p:cNvPr>
          <p:cNvSpPr txBox="1"/>
          <p:nvPr/>
        </p:nvSpPr>
        <p:spPr>
          <a:xfrm>
            <a:off x="219859" y="1901143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800" u="sng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Link a video de presentación de informe de avance</a:t>
            </a:r>
            <a:endParaRPr lang="es-CL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8462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310</Words>
  <Application>Microsoft Office PowerPoint</Application>
  <PresentationFormat>Presentación en pantalla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de Office</vt:lpstr>
      <vt:lpstr>Reporte de Avance de Proyecto [Nombre del Proyecto] [#Grupo]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admin</dc:creator>
  <cp:lastModifiedBy>Cecilia Guzmán</cp:lastModifiedBy>
  <cp:revision>51</cp:revision>
  <dcterms:created xsi:type="dcterms:W3CDTF">2013-07-13T16:52:20Z</dcterms:created>
  <dcterms:modified xsi:type="dcterms:W3CDTF">2026-08-02T16:30:37Z</dcterms:modified>
</cp:coreProperties>
</file>